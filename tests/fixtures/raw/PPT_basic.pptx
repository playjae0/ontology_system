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조립공정 설비 현황</a:t>
            </a:r>
          </a:p>
        </p:txBody>
      </p:sp>
      <p:sp>
        <p:nvSpPr>
          <p:cNvPr id="3" name="Subtitle 2"/>
          <p:cNvSpPr>
            <a:spLocks noGrp="1"/>
          </p:cNvSpPr>
          <p:nvPr>
            <p:ph type="subTitle" idx="1"/>
          </p:nvPr>
        </p:nvSpPr>
        <p:spPr/>
        <p:txBody>
          <a:bodyPr/>
          <a:lstStyle/>
          <a:p>
            <a:r>
              <a:t>2026년 상반기 · 조립 1라인 · 조립기술팀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노칭 공정</a:t>
            </a:r>
          </a:p>
        </p:txBody>
      </p:sp>
      <p:sp>
        <p:nvSpPr>
          <p:cNvPr id="3" name="Content Placeholder 2"/>
          <p:cNvSpPr>
            <a:spLocks noGrp="1"/>
          </p:cNvSpPr>
          <p:nvPr>
            <p:ph idx="1"/>
          </p:nvPr>
        </p:nvSpPr>
        <p:spPr/>
        <p:txBody>
          <a:bodyPr/>
          <a:lstStyle/>
          <a:p>
            <a:r>
              <a:rPr sz="1800"/>
              <a:t>노칭 프레스는 금형으로 전극 원단을 타발한다.</a:t>
            </a:r>
          </a:p>
          <a:p>
            <a:pPr/>
            <a:r>
              <a:rPr sz="1800"/>
              <a:t>금형 클리어런스는 20±2㎛로 관리한다.</a:t>
            </a:r>
          </a:p>
          <a:p>
            <a:pPr/>
            <a:r>
              <a:rPr sz="1800"/>
              <a:t>타발 후 치수는 비전 측정기로 자동 측정한다.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노칭 — 관리 인자</a:t>
            </a:r>
          </a:p>
        </p:txBody>
      </p:sp>
      <p:sp>
        <p:nvSpPr>
          <p:cNvPr id="3" name="Content Placeholder 2"/>
          <p:cNvSpPr>
            <a:spLocks noGrp="1"/>
          </p:cNvSpPr>
          <p:nvPr>
            <p:ph idx="1"/>
          </p:nvPr>
        </p:nvSpPr>
        <p:spPr/>
        <p:txBody>
          <a:bodyPr/>
          <a:lstStyle/>
          <a:p>
            <a:r>
              <a:rPr sz="1800"/>
              <a:t>전극 언와인더의 원단 장력은 25±3N이다.</a:t>
            </a:r>
          </a:p>
          <a:p>
            <a:pPr/>
            <a:r>
              <a:rPr sz="1800"/>
              <a:t>사행량은 EPC 센서로 ±1.0mm 이내 관리한다.</a:t>
            </a:r>
          </a:p>
          <a:p>
            <a:pPr/>
            <a:r>
              <a:rPr sz="1800"/>
              <a:t>타발 속도 상한은 설비 레시피에 고정되어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스태킹 공정</a:t>
            </a:r>
          </a:p>
        </p:txBody>
      </p:sp>
      <p:sp>
        <p:nvSpPr>
          <p:cNvPr id="3" name="Content Placeholder 2"/>
          <p:cNvSpPr>
            <a:spLocks noGrp="1"/>
          </p:cNvSpPr>
          <p:nvPr>
            <p:ph idx="1"/>
          </p:nvPr>
        </p:nvSpPr>
        <p:spPr/>
        <p:txBody>
          <a:bodyPr/>
          <a:lstStyle/>
          <a:p>
            <a:r>
              <a:rPr sz="1800"/>
              <a:t>스태커는 분리막과 전극을 교대로 적층한다.</a:t>
            </a:r>
          </a:p>
          <a:p>
            <a:pPr/>
            <a:r>
              <a:rPr sz="1800"/>
              <a:t>적층 정렬도 규격은 ±0.2mm이다.</a:t>
            </a:r>
          </a:p>
          <a:p>
            <a:pPr/>
            <a:r>
              <a:rPr sz="1800"/>
              <a:t>정렬 센서는 일일 교정 대상이다.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스태킹 — 관리 인자</a:t>
            </a:r>
          </a:p>
        </p:txBody>
      </p:sp>
      <p:sp>
        <p:nvSpPr>
          <p:cNvPr id="3" name="Content Placeholder 2"/>
          <p:cNvSpPr>
            <a:spLocks noGrp="1"/>
          </p:cNvSpPr>
          <p:nvPr>
            <p:ph idx="1"/>
          </p:nvPr>
        </p:nvSpPr>
        <p:spPr/>
        <p:txBody>
          <a:bodyPr/>
          <a:lstStyle/>
          <a:p>
            <a:r>
              <a:rPr sz="1800"/>
              <a:t>흡착 압력은 -60±5kPa로 관리한다.</a:t>
            </a:r>
          </a:p>
          <a:p>
            <a:pPr/>
            <a:r>
              <a:rPr sz="1800"/>
              <a:t>분리막 장력 이상은 주름의 직접 원인이다.</a:t>
            </a:r>
          </a:p>
          <a:p>
            <a:pPr/>
            <a:r>
              <a:rPr sz="1800"/>
              <a:t>적층 속도는 60±5ppm를 상한으로 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탭용접 공정</a:t>
            </a:r>
          </a:p>
        </p:txBody>
      </p:sp>
      <p:sp>
        <p:nvSpPr>
          <p:cNvPr id="3" name="Content Placeholder 2"/>
          <p:cNvSpPr>
            <a:spLocks noGrp="1"/>
          </p:cNvSpPr>
          <p:nvPr>
            <p:ph idx="1"/>
          </p:nvPr>
        </p:nvSpPr>
        <p:spPr/>
        <p:txBody>
          <a:bodyPr/>
          <a:lstStyle/>
          <a:p>
            <a:r>
              <a:rPr sz="1800"/>
              <a:t>초음파 융착기가 극성별로 탭을 접합한다.</a:t>
            </a:r>
          </a:p>
          <a:p>
            <a:pPr/>
            <a:r>
              <a:rPr sz="1800"/>
              <a:t>cathode는 용접 진폭 40±3㎛, anode는 35±3㎛이다.</a:t>
            </a:r>
          </a:p>
          <a:p>
            <a:pPr/>
            <a:r>
              <a:rPr sz="1800"/>
              <a:t>혼 마모량은 누적 타수로 관리한다.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패키징·주액 공정</a:t>
            </a:r>
          </a:p>
        </p:txBody>
      </p:sp>
      <p:sp>
        <p:nvSpPr>
          <p:cNvPr id="3" name="Content Placeholder 2"/>
          <p:cNvSpPr>
            <a:spLocks noGrp="1"/>
          </p:cNvSpPr>
          <p:nvPr>
            <p:ph idx="1"/>
          </p:nvPr>
        </p:nvSpPr>
        <p:spPr/>
        <p:txBody>
          <a:bodyPr/>
          <a:lstStyle/>
          <a:p>
            <a:r>
              <a:rPr sz="1800"/>
              <a:t>파우치 포밍기의 포밍 깊이는 8±0.3mm이다.</a:t>
            </a:r>
          </a:p>
          <a:p>
            <a:pPr/>
            <a:r>
              <a:rPr sz="1800"/>
              <a:t>주액기는 정량 노즐로 전해액을 주입한다.</a:t>
            </a:r>
          </a:p>
          <a:p>
            <a:pPr/>
            <a:r>
              <a:rPr sz="1800"/>
              <a:t>챔버 진공도는 5±1Pa로 유지한다.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실링 공정</a:t>
            </a:r>
          </a:p>
        </p:txBody>
      </p:sp>
      <p:sp>
        <p:nvSpPr>
          <p:cNvPr id="3" name="Content Placeholder 2"/>
          <p:cNvSpPr>
            <a:spLocks noGrp="1"/>
          </p:cNvSpPr>
          <p:nvPr>
            <p:ph idx="1"/>
          </p:nvPr>
        </p:nvSpPr>
        <p:spPr/>
        <p:txBody>
          <a:bodyPr/>
          <a:lstStyle/>
          <a:p>
            <a:r>
              <a:rPr sz="1800"/>
              <a:t>실러는 180±5℃에서 파우치를 밀봉한다.</a:t>
            </a:r>
          </a:p>
          <a:p>
            <a:pPr/>
            <a:r>
              <a:rPr sz="1800"/>
              <a:t>실링 압력 0.4±0.05MPa, 실링 시간 3.0±0.2s로 관리한다.</a:t>
            </a:r>
          </a:p>
          <a:p>
            <a:pPr/>
            <a:r>
              <a:rPr sz="1800"/>
              <a:t>밀봉 불량은 누설 검사로 전수 확인한다.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금기 하반기 과제</a:t>
            </a:r>
          </a:p>
        </p:txBody>
      </p:sp>
      <p:sp>
        <p:nvSpPr>
          <p:cNvPr id="3" name="Content Placeholder 2"/>
          <p:cNvSpPr>
            <a:spLocks noGrp="1"/>
          </p:cNvSpPr>
          <p:nvPr>
            <p:ph idx="1"/>
          </p:nvPr>
        </p:nvSpPr>
        <p:spPr/>
        <p:txBody>
          <a:bodyPr/>
          <a:lstStyle/>
          <a:p>
            <a:r>
              <a:rPr sz="1800"/>
              <a:t>금형 교체 주기를 누적 타수 기준으로 하향 조정한다.</a:t>
            </a:r>
          </a:p>
          <a:p>
            <a:pPr/>
            <a:r>
              <a:rPr sz="1800"/>
              <a:t>정렬 센서 일일 교정을 표준 작업에 편입한다.</a:t>
            </a:r>
          </a:p>
          <a:p>
            <a:pPr/>
            <a:r>
              <a:rPr sz="1800"/>
              <a:t>도포량 인라인 계측 설비 도입을 검토한다.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65760"/>
            <a:ext cx="8229600" cy="777240"/>
          </a:xfrm>
          <a:prstGeom prst="rect">
            <a:avLst/>
          </a:prstGeom>
          <a:noFill/>
        </p:spPr>
        <p:txBody>
          <a:bodyPr wrap="square">
            <a:spAutoFit/>
          </a:bodyPr>
          <a:lstStyle/>
          <a:p>
            <a:r>
              <a:rPr sz="900"/>
              <a:t>주액 공정 개요</a:t>
            </a:r>
          </a:p>
          <a:p>
            <a:r>
              <a:rPr sz="900"/>
              <a:t>전해액 주액은 진공 챔버 안에서 정량 노즐로 전해액을 주입하는 공정이다. 주입량이 모자라면 이온 전도 경로가 끊기고 과하면 파우치 내압이 올라간다. 챔버 진공도와 노즐 토출 압력이 함께 관리되며 둘은 서로를 보정하지 않는다.</a:t>
            </a:r>
          </a:p>
        </p:txBody>
      </p:sp>
      <p:sp>
        <p:nvSpPr>
          <p:cNvPr id="3" name="TextBox 2"/>
          <p:cNvSpPr txBox="1"/>
          <p:nvPr/>
        </p:nvSpPr>
        <p:spPr>
          <a:xfrm>
            <a:off x="365760" y="1188720"/>
            <a:ext cx="8229600" cy="777240"/>
          </a:xfrm>
          <a:prstGeom prst="rect">
            <a:avLst/>
          </a:prstGeom>
          <a:noFill/>
        </p:spPr>
        <p:txBody>
          <a:bodyPr wrap="square">
            <a:spAutoFit/>
          </a:bodyPr>
          <a:lstStyle/>
          <a:p>
            <a:r>
              <a:rPr sz="900"/>
              <a:t>설비 구성</a:t>
            </a:r>
          </a:p>
          <a:p>
            <a:r>
              <a:rPr sz="900"/>
              <a:t>주액기는 정량 펌프·진공 챔버·노즐 헤드 세 부분으로 나뉜다. 정량 펌프는 회전 각도로 토출량을 정하고, 진공 챔버는 셀 내부 기포를 뽑아낸 뒤 주입을 시작한다. 노즐 헤드는 셀당 1개이며 교체 주기는 가동 시간 기준으로 관리한다.</a:t>
            </a:r>
          </a:p>
        </p:txBody>
      </p:sp>
      <p:sp>
        <p:nvSpPr>
          <p:cNvPr id="4" name="TextBox 3"/>
          <p:cNvSpPr txBox="1"/>
          <p:nvPr/>
        </p:nvSpPr>
        <p:spPr>
          <a:xfrm>
            <a:off x="365760" y="2011680"/>
            <a:ext cx="8229600" cy="777240"/>
          </a:xfrm>
          <a:prstGeom prst="rect">
            <a:avLst/>
          </a:prstGeom>
          <a:noFill/>
        </p:spPr>
        <p:txBody>
          <a:bodyPr wrap="square">
            <a:spAutoFit/>
          </a:bodyPr>
          <a:lstStyle/>
          <a:p>
            <a:r>
              <a:rPr sz="900"/>
              <a:t>관리 인자</a:t>
            </a:r>
          </a:p>
          <a:p>
            <a:r>
              <a:rPr sz="900"/>
              <a:t>주액량은 셀 설계 용량에 비례해 정해지고 공차는 설계서가 준다. 챔버 진공도는 주입 직전 값을 기준으로 하며 주입 중 변동은 별도로 기록한다. 노즐 세척 주기를 넘기면 토출량 산포가 커진다는 것이 반복 관찰됐다.</a:t>
            </a:r>
          </a:p>
        </p:txBody>
      </p:sp>
      <p:sp>
        <p:nvSpPr>
          <p:cNvPr id="5" name="TextBox 4"/>
          <p:cNvSpPr txBox="1"/>
          <p:nvPr/>
        </p:nvSpPr>
        <p:spPr>
          <a:xfrm>
            <a:off x="365760" y="2834640"/>
            <a:ext cx="8229600" cy="777240"/>
          </a:xfrm>
          <a:prstGeom prst="rect">
            <a:avLst/>
          </a:prstGeom>
          <a:noFill/>
        </p:spPr>
        <p:txBody>
          <a:bodyPr wrap="square">
            <a:spAutoFit/>
          </a:bodyPr>
          <a:lstStyle/>
          <a:p>
            <a:r>
              <a:rPr sz="900"/>
              <a:t>이상 유형</a:t>
            </a:r>
          </a:p>
          <a:p>
            <a:r>
              <a:rPr sz="900"/>
              <a:t>주액량 편차는 정량 펌프 마모나 노즐 막힘에서 온다. 챔버 진공도 미달은 실링부 누설이 원인인 경우가 많다. 두 이상은 증상이 비슷해 보이지만 조치가 다르므로 진공도 로그를 먼저 본다.</a:t>
            </a:r>
          </a:p>
        </p:txBody>
      </p:sp>
      <p:sp>
        <p:nvSpPr>
          <p:cNvPr id="6" name="TextBox 5"/>
          <p:cNvSpPr txBox="1"/>
          <p:nvPr/>
        </p:nvSpPr>
        <p:spPr>
          <a:xfrm>
            <a:off x="365760" y="3657600"/>
            <a:ext cx="8229600" cy="777240"/>
          </a:xfrm>
          <a:prstGeom prst="rect">
            <a:avLst/>
          </a:prstGeom>
          <a:noFill/>
        </p:spPr>
        <p:txBody>
          <a:bodyPr wrap="square">
            <a:spAutoFit/>
          </a:bodyPr>
          <a:lstStyle/>
          <a:p>
            <a:r>
              <a:rPr sz="900"/>
              <a:t>점검 항목</a:t>
            </a:r>
          </a:p>
          <a:p>
            <a:r>
              <a:rPr sz="900"/>
              <a:t>시업 점검에서 정량 펌프 토출량을 3회 측정해 산포를 본다. 진공계 영점은 교대마다 확인한다. 노즐 헤드는 육안으로 잔류물을 확인하고 필요하면 세척한다. 세척 후에는 반드시 토출량을 재측정한다.</a:t>
            </a:r>
          </a:p>
        </p:txBody>
      </p:sp>
      <p:sp>
        <p:nvSpPr>
          <p:cNvPr id="7" name="TextBox 6"/>
          <p:cNvSpPr txBox="1"/>
          <p:nvPr/>
        </p:nvSpPr>
        <p:spPr>
          <a:xfrm>
            <a:off x="365760" y="4480560"/>
            <a:ext cx="8229600" cy="777240"/>
          </a:xfrm>
          <a:prstGeom prst="rect">
            <a:avLst/>
          </a:prstGeom>
          <a:noFill/>
        </p:spPr>
        <p:txBody>
          <a:bodyPr wrap="square">
            <a:spAutoFit/>
          </a:bodyPr>
          <a:lstStyle/>
          <a:p>
            <a:r>
              <a:rPr sz="900"/>
              <a:t>기록</a:t>
            </a:r>
          </a:p>
          <a:p>
            <a:r>
              <a:rPr sz="900"/>
              <a:t>주액량·진공도·노즐 세척 이력은 설비 로그에 남는다. 로그는 셀 단위가 아니라 배치 단위로 집계되며, 개별 셀 값은 저장하지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65760"/>
            <a:ext cx="8229600" cy="5943600"/>
          </a:xfrm>
          <a:prstGeom prst="rect">
            <a:avLst/>
          </a:prstGeom>
          <a:noFill/>
        </p:spPr>
        <p:txBody>
          <a:bodyPr wrap="square">
            <a:spAutoFit/>
          </a:bodyPr>
          <a:lstStyle/>
          <a:p>
            <a:r>
              <a:rPr sz="900"/>
              <a:t>1. 패키징 공정 총괄</a:t>
            </a:r>
          </a:p>
          <a:p>
            <a:r>
              <a:rPr sz="900"/>
              <a:t>파우치 성형부터 사이드 실링까지를 하나의 라인으로 묶어 관리한다. 각 스텝은 앞 스텝의 산출을 그대로 받으므로 중간 재작업 경로가 없다.</a:t>
            </a:r>
          </a:p>
          <a:p>
            <a:r>
              <a:rPr sz="900"/>
              <a:t>1.1 파우치 포밍</a:t>
            </a:r>
          </a:p>
          <a:p>
            <a:r>
              <a:rPr sz="900"/>
              <a:t>알루미늄 라미네이트 필름을 금형으로 성형해 셀 수납부를 만든다. 포밍 깊이가 얕으면 수납이 안 되고 깊으면 필름이 찢어진다.</a:t>
            </a:r>
          </a:p>
          <a:p>
            <a:r>
              <a:rPr sz="900"/>
              <a:t>1.2 전해액 주액</a:t>
            </a:r>
          </a:p>
          <a:p>
            <a:r>
              <a:rPr sz="900"/>
              <a:t>진공 챔버에서 정량 주입한다. 주액량과 챔버 진공도가 핵심 관리 인자이며 노즐 세척 주기가 산포에 직접 영향을 준다.</a:t>
            </a:r>
          </a:p>
          <a:p>
            <a:r>
              <a:rPr sz="900"/>
              <a:t>2. 실링 계열</a:t>
            </a:r>
          </a:p>
          <a:p>
            <a:r>
              <a:rPr sz="900"/>
              <a:t>실링은 사이드 실링과 가실링으로 나뉘며 목적이 다르다. 사이드 실링은 외곽 봉지, 가실링은 주액 뒤 임시 밀봉이다.</a:t>
            </a:r>
          </a:p>
          <a:p>
            <a:r>
              <a:rPr sz="900"/>
              <a:t>2.1 사이드 실링</a:t>
            </a:r>
          </a:p>
          <a:p>
            <a:r>
              <a:rPr sz="900"/>
              <a:t>실링 온도·압력·폭·강도가 관리 대상이다. 온도가 낮으면 접합이 약하고 높으면 필름이 변형된다. 폭과 강도는 인장 시험으로 확인한다.</a:t>
            </a:r>
          </a:p>
          <a:p>
            <a:r>
              <a:rPr sz="900"/>
              <a:t>2.2 가실링</a:t>
            </a:r>
          </a:p>
          <a:p>
            <a:r>
              <a:rPr sz="900"/>
              <a:t>주액 직후 임시로 봉하는 스텝이다. 실링 시간이 짧으면 전해액이 새고 길면 이후 탈기 공정에서 개봉이 어려워진다.</a:t>
            </a:r>
          </a:p>
          <a:p>
            <a:r>
              <a:rPr sz="900"/>
              <a:t>3. 검사와 기록</a:t>
            </a:r>
          </a:p>
          <a:p>
            <a:r>
              <a:rPr sz="900"/>
              <a:t>포밍 외관은 육안 검사로, 실링부는 인장 시험으로 확인한다. 결과는 배치 단위로 집계해 성적서에 남기며 개별 셀 값은 저장하지 않는다.</a:t>
            </a:r>
          </a:p>
          <a:p>
            <a:r>
              <a:rPr sz="900"/>
              <a:t>3.1 외관 검사</a:t>
            </a:r>
          </a:p>
          <a:p>
            <a:r>
              <a:rPr sz="900"/>
              <a:t>포밍 외관은 균열·주름·이물 셋을 본다. 균열은 즉시 폐기이고 주름은 깊이에 따라 판정이 갈린다. 이물은 크기와 위치를 함께 기록한다.</a:t>
            </a:r>
          </a:p>
          <a:p>
            <a:r>
              <a:rPr sz="900"/>
              <a:t>3.2 실링 강도 시험</a:t>
            </a:r>
          </a:p>
          <a:p>
            <a:r>
              <a:rPr sz="900"/>
              <a:t>인장 시험기로 실링부를 잡아당겨 파단 하중을 잰다. 규격 미달이면 그 배치의 실링 조건을 재설정하고 앞선 셀까지 소급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